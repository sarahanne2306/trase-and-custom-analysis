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7" r:id="rId8"/>
    <p:sldId id="266" r:id="rId9"/>
    <p:sldId id="260" r:id="rId10"/>
    <p:sldId id="261" r:id="rId11"/>
    <p:sldId id="262" r:id="rId12"/>
    <p:sldId id="265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ibra Sans Bold" panose="020B0604020202020204" charset="0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193" y="670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4258616" y="909762"/>
            <a:ext cx="7256231" cy="7256231"/>
          </a:xfrm>
          <a:custGeom>
            <a:avLst/>
            <a:gdLst/>
            <a:ahLst/>
            <a:cxnLst/>
            <a:rect l="l" t="t" r="r" b="b"/>
            <a:pathLst>
              <a:path w="7256231" h="7256231">
                <a:moveTo>
                  <a:pt x="0" y="0"/>
                </a:moveTo>
                <a:lnTo>
                  <a:pt x="7256231" y="0"/>
                </a:lnTo>
                <a:lnTo>
                  <a:pt x="7256231" y="7256231"/>
                </a:lnTo>
                <a:lnTo>
                  <a:pt x="0" y="725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700000">
            <a:off x="9675855" y="-3819351"/>
            <a:ext cx="7256231" cy="7256231"/>
          </a:xfrm>
          <a:custGeom>
            <a:avLst/>
            <a:gdLst/>
            <a:ahLst/>
            <a:cxnLst/>
            <a:rect l="l" t="t" r="r" b="b"/>
            <a:pathLst>
              <a:path w="7256231" h="7256231">
                <a:moveTo>
                  <a:pt x="0" y="0"/>
                </a:moveTo>
                <a:lnTo>
                  <a:pt x="7256231" y="0"/>
                </a:lnTo>
                <a:lnTo>
                  <a:pt x="7256231" y="7256231"/>
                </a:lnTo>
                <a:lnTo>
                  <a:pt x="0" y="725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>
            <a:off x="11686093" y="7084255"/>
            <a:ext cx="7256231" cy="7256231"/>
          </a:xfrm>
          <a:custGeom>
            <a:avLst/>
            <a:gdLst/>
            <a:ahLst/>
            <a:cxnLst/>
            <a:rect l="l" t="t" r="r" b="b"/>
            <a:pathLst>
              <a:path w="7256231" h="7256231">
                <a:moveTo>
                  <a:pt x="0" y="0"/>
                </a:moveTo>
                <a:lnTo>
                  <a:pt x="7256231" y="0"/>
                </a:lnTo>
                <a:lnTo>
                  <a:pt x="7256231" y="7256231"/>
                </a:lnTo>
                <a:lnTo>
                  <a:pt x="0" y="725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0560170" y="4178397"/>
            <a:ext cx="4139247" cy="4139247"/>
          </a:xfrm>
          <a:custGeom>
            <a:avLst/>
            <a:gdLst/>
            <a:ahLst/>
            <a:cxnLst/>
            <a:rect l="l" t="t" r="r" b="b"/>
            <a:pathLst>
              <a:path w="4139247" h="4139247">
                <a:moveTo>
                  <a:pt x="0" y="0"/>
                </a:moveTo>
                <a:lnTo>
                  <a:pt x="4139247" y="0"/>
                </a:lnTo>
                <a:lnTo>
                  <a:pt x="4139247" y="4139247"/>
                </a:lnTo>
                <a:lnTo>
                  <a:pt x="0" y="4139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06489" y="-4838965"/>
            <a:ext cx="8827001" cy="882700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61840" y="6526642"/>
            <a:ext cx="8827001" cy="882700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2420448" y="5955696"/>
            <a:ext cx="8799304" cy="7039443"/>
          </a:xfrm>
          <a:custGeom>
            <a:avLst/>
            <a:gdLst/>
            <a:ahLst/>
            <a:cxnLst/>
            <a:rect l="l" t="t" r="r" b="b"/>
            <a:pathLst>
              <a:path w="8799304" h="7039443">
                <a:moveTo>
                  <a:pt x="8799304" y="0"/>
                </a:moveTo>
                <a:lnTo>
                  <a:pt x="0" y="0"/>
                </a:lnTo>
                <a:lnTo>
                  <a:pt x="0" y="7039443"/>
                </a:lnTo>
                <a:lnTo>
                  <a:pt x="8799304" y="7039443"/>
                </a:lnTo>
                <a:lnTo>
                  <a:pt x="87993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736312">
            <a:off x="11781924" y="-377432"/>
            <a:ext cx="8799304" cy="7039443"/>
          </a:xfrm>
          <a:custGeom>
            <a:avLst/>
            <a:gdLst/>
            <a:ahLst/>
            <a:cxnLst/>
            <a:rect l="l" t="t" r="r" b="b"/>
            <a:pathLst>
              <a:path w="8799304" h="7039443">
                <a:moveTo>
                  <a:pt x="0" y="0"/>
                </a:moveTo>
                <a:lnTo>
                  <a:pt x="8799304" y="0"/>
                </a:lnTo>
                <a:lnTo>
                  <a:pt x="8799304" y="7039443"/>
                </a:lnTo>
                <a:lnTo>
                  <a:pt x="0" y="7039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317215" y="3797149"/>
            <a:ext cx="4901744" cy="490174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7"/>
              <a:stretch>
                <a:fillRect l="-24906" r="-2490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831755" y="-1445918"/>
            <a:ext cx="11494793" cy="1149479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8"/>
              <a:stretch>
                <a:fillRect l="-30816" r="-19136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-333821" y="3946612"/>
            <a:ext cx="479655" cy="2651693"/>
            <a:chOff x="0" y="0"/>
            <a:chExt cx="126329" cy="6983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329" cy="698388"/>
            </a:xfrm>
            <a:custGeom>
              <a:avLst/>
              <a:gdLst/>
              <a:ahLst/>
              <a:cxnLst/>
              <a:rect l="l" t="t" r="r" b="b"/>
              <a:pathLst>
                <a:path w="126329" h="698388">
                  <a:moveTo>
                    <a:pt x="0" y="0"/>
                  </a:moveTo>
                  <a:lnTo>
                    <a:pt x="126329" y="0"/>
                  </a:lnTo>
                  <a:lnTo>
                    <a:pt x="126329" y="698388"/>
                  </a:lnTo>
                  <a:lnTo>
                    <a:pt x="0" y="698388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26329" cy="746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7434" y="8225763"/>
            <a:ext cx="163722" cy="1032537"/>
            <a:chOff x="0" y="0"/>
            <a:chExt cx="43120" cy="2719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120" cy="271944"/>
            </a:xfrm>
            <a:custGeom>
              <a:avLst/>
              <a:gdLst/>
              <a:ahLst/>
              <a:cxnLst/>
              <a:rect l="l" t="t" r="r" b="b"/>
              <a:pathLst>
                <a:path w="43120" h="271944">
                  <a:moveTo>
                    <a:pt x="0" y="0"/>
                  </a:moveTo>
                  <a:lnTo>
                    <a:pt x="43120" y="0"/>
                  </a:lnTo>
                  <a:lnTo>
                    <a:pt x="43120" y="271944"/>
                  </a:lnTo>
                  <a:lnTo>
                    <a:pt x="0" y="271944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3120" cy="3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19188" y="1147510"/>
            <a:ext cx="1207934" cy="1114682"/>
          </a:xfrm>
          <a:custGeom>
            <a:avLst/>
            <a:gdLst/>
            <a:ahLst/>
            <a:cxnLst/>
            <a:rect l="l" t="t" r="r" b="b"/>
            <a:pathLst>
              <a:path w="1207934" h="1114682">
                <a:moveTo>
                  <a:pt x="0" y="0"/>
                </a:moveTo>
                <a:lnTo>
                  <a:pt x="1207933" y="0"/>
                </a:lnTo>
                <a:lnTo>
                  <a:pt x="1207933" y="1114682"/>
                </a:lnTo>
                <a:lnTo>
                  <a:pt x="0" y="1114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6865" t="-163093" r="-187297" b="-25073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835527" y="2223844"/>
            <a:ext cx="7949136" cy="4486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765"/>
              </a:lnSpc>
            </a:pPr>
            <a:r>
              <a:rPr lang="en-US" sz="9600" b="1" dirty="0">
                <a:solidFill>
                  <a:srgbClr val="B06E10"/>
                </a:solidFill>
                <a:latin typeface="+mj-lt"/>
                <a:ea typeface="Gordita Bold"/>
                <a:cs typeface="Gordita Bold"/>
                <a:sym typeface="Gordita Bold"/>
              </a:rPr>
              <a:t>Trade And Custom Analytics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106" y="7345453"/>
            <a:ext cx="644549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Gordita Bold"/>
                <a:ea typeface="Gordita Bold"/>
                <a:cs typeface="Gordita Bold"/>
                <a:sym typeface="Gordita Bold"/>
              </a:rPr>
              <a:t>Internship Presentation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1008" y="8666615"/>
            <a:ext cx="298043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665BE"/>
                </a:solidFill>
                <a:latin typeface="Gordita"/>
                <a:ea typeface="Gordita"/>
                <a:cs typeface="Gordita"/>
                <a:sym typeface="Gordita"/>
              </a:rPr>
              <a:t>Presented By: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49932" y="8666615"/>
            <a:ext cx="6052434" cy="837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B06E10"/>
                </a:solidFill>
                <a:latin typeface="Gordita Bold"/>
                <a:ea typeface="Gordita Bold"/>
                <a:cs typeface="Gordita Bold"/>
                <a:sym typeface="Gordita Bold"/>
              </a:rPr>
              <a:t>OYINDAMOLA SARAH BABATUNDE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B06E10"/>
                </a:solidFill>
                <a:latin typeface="Gordita Bold"/>
                <a:ea typeface="Gordita Bold"/>
                <a:cs typeface="Gordita Bold"/>
                <a:sym typeface="Gordita Bold"/>
              </a:rPr>
              <a:t>JOEL BABATUNDE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27121" y="1352155"/>
            <a:ext cx="177250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 err="1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DataVerse</a:t>
            </a:r>
            <a:r>
              <a:rPr lang="en-US" sz="24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Africa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93" y="8175673"/>
            <a:ext cx="2754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9663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Group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042555" y="-657204"/>
            <a:ext cx="3654744" cy="4693090"/>
          </a:xfrm>
          <a:custGeom>
            <a:avLst/>
            <a:gdLst/>
            <a:ahLst/>
            <a:cxnLst/>
            <a:rect l="l" t="t" r="r" b="b"/>
            <a:pathLst>
              <a:path w="3654744" h="4693090">
                <a:moveTo>
                  <a:pt x="0" y="0"/>
                </a:moveTo>
                <a:lnTo>
                  <a:pt x="3654744" y="0"/>
                </a:lnTo>
                <a:lnTo>
                  <a:pt x="3654744" y="4693090"/>
                </a:lnTo>
                <a:lnTo>
                  <a:pt x="0" y="4693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37021" y="1273037"/>
            <a:ext cx="852758" cy="852758"/>
          </a:xfrm>
          <a:custGeom>
            <a:avLst/>
            <a:gdLst/>
            <a:ahLst/>
            <a:cxnLst/>
            <a:rect l="l" t="t" r="r" b="b"/>
            <a:pathLst>
              <a:path w="852758" h="852758">
                <a:moveTo>
                  <a:pt x="0" y="0"/>
                </a:moveTo>
                <a:lnTo>
                  <a:pt x="852757" y="0"/>
                </a:lnTo>
                <a:lnTo>
                  <a:pt x="852757" y="852758"/>
                </a:lnTo>
                <a:lnTo>
                  <a:pt x="0" y="8527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18109" y="780594"/>
            <a:ext cx="9383738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18109" y="2422683"/>
            <a:ext cx="12320364" cy="709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The Trade and Customs industry faces challenges in efficiently managing import operations, taxation, and compliance while mitigating risks associated with high-risk imports. Inconsistent data entry, incomplete records, and outlier values can undermine data accuracy, impacting decision-making.</a:t>
            </a:r>
          </a:p>
          <a:p>
            <a:pPr algn="just">
              <a:lnSpc>
                <a:spcPts val="3640"/>
              </a:lnSpc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buNone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This report aims to analyze trade and customs data using key performance indicators (KPIs) to uncover insights, identify inefficiencies, and recommend data-driven solutions to enhance trade processes. The focus areas include:</a:t>
            </a:r>
          </a:p>
          <a:p>
            <a:pPr algn="just">
              <a:buNone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Improving import volume and value tracking.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Enhancing tax collection and revenue management.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Streamlining logistics and shipment operations.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Strengthening compliance and risk management measures.</a:t>
            </a:r>
          </a:p>
          <a:p>
            <a:pPr algn="just">
              <a:lnSpc>
                <a:spcPts val="3640"/>
              </a:lnSpc>
            </a:pPr>
            <a:endParaRPr lang="en-US" sz="2800" dirty="0">
              <a:solidFill>
                <a:srgbClr val="000000"/>
              </a:solidFill>
              <a:latin typeface="Poppins" panose="00000500000000000000" pitchFamily="2" charset="0"/>
              <a:ea typeface="Poppins" panose="00000500000000000000"/>
              <a:cs typeface="Poppins" panose="00000500000000000000" pitchFamily="2" charset="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832" y="582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2906" y="1850610"/>
            <a:ext cx="997680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Project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2906" y="3434969"/>
            <a:ext cx="8979184" cy="517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99663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Primary Objective</a:t>
            </a:r>
          </a:p>
          <a:p>
            <a:pPr>
              <a:buNone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To optimize trade processes and customs operations by providing actionable insights into import volume, taxation, logistics, and compliance.</a:t>
            </a:r>
          </a:p>
          <a:p>
            <a:pPr>
              <a:buNone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99663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Secondary Objective</a:t>
            </a:r>
          </a:p>
          <a:p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To enhance decision-making for customs authorities by identifying trends, risks, and opportunities, ultimately improving revenue collection, compliance, and efficiency.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12939384" y="-491263"/>
            <a:ext cx="5907806" cy="2953903"/>
          </a:xfrm>
          <a:custGeom>
            <a:avLst/>
            <a:gdLst/>
            <a:ahLst/>
            <a:cxnLst/>
            <a:rect l="l" t="t" r="r" b="b"/>
            <a:pathLst>
              <a:path w="5907806" h="2953903">
                <a:moveTo>
                  <a:pt x="0" y="0"/>
                </a:moveTo>
                <a:lnTo>
                  <a:pt x="5907806" y="0"/>
                </a:lnTo>
                <a:lnTo>
                  <a:pt x="5907806" y="2953903"/>
                </a:lnTo>
                <a:lnTo>
                  <a:pt x="0" y="295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12939384" y="-491263"/>
            <a:ext cx="5907806" cy="2953903"/>
          </a:xfrm>
          <a:custGeom>
            <a:avLst/>
            <a:gdLst/>
            <a:ahLst/>
            <a:cxnLst/>
            <a:rect l="l" t="t" r="r" b="b"/>
            <a:pathLst>
              <a:path w="5907806" h="2953903">
                <a:moveTo>
                  <a:pt x="0" y="0"/>
                </a:moveTo>
                <a:lnTo>
                  <a:pt x="5907806" y="0"/>
                </a:lnTo>
                <a:lnTo>
                  <a:pt x="5907806" y="2953903"/>
                </a:lnTo>
                <a:lnTo>
                  <a:pt x="0" y="295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50608" y="864275"/>
            <a:ext cx="935565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 Transformation</a:t>
            </a:r>
          </a:p>
        </p:txBody>
      </p:sp>
      <p:sp>
        <p:nvSpPr>
          <p:cNvPr id="19" name="TextBox 16"/>
          <p:cNvSpPr txBox="1"/>
          <p:nvPr/>
        </p:nvSpPr>
        <p:spPr>
          <a:xfrm>
            <a:off x="1383170" y="2997715"/>
            <a:ext cx="13497696" cy="5614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The dataset was cleaned using Python, Excel and Power Query techniques to ensure data consistency and accuracy. The process involved: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800" kern="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Correcting formatting issues in monetary values and dates.</a:t>
            </a:r>
            <a:endParaRPr lang="en-US" sz="3200" kern="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Handling missing values and invalid entries.</a:t>
            </a:r>
            <a:endParaRPr lang="en-US" sz="3200" kern="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Replacing erroneous dates and standardizing country names.</a:t>
            </a:r>
            <a:endParaRPr lang="en-US" sz="3200" kern="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Converting data types for accurate analysis.</a:t>
            </a:r>
            <a:endParaRPr lang="en-US" sz="3200" kern="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Applying </a:t>
            </a:r>
            <a:r>
              <a:rPr lang="en-US" sz="32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Winsorization</a:t>
            </a:r>
            <a:r>
              <a:rPr lang="en-US" sz="32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to manage outliers.</a:t>
            </a:r>
            <a:endParaRPr lang="en-US" sz="3200" kern="10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13334989" y="-723673"/>
            <a:ext cx="5907806" cy="2953903"/>
          </a:xfrm>
          <a:custGeom>
            <a:avLst/>
            <a:gdLst/>
            <a:ahLst/>
            <a:cxnLst/>
            <a:rect l="l" t="t" r="r" b="b"/>
            <a:pathLst>
              <a:path w="5907806" h="2953903">
                <a:moveTo>
                  <a:pt x="0" y="0"/>
                </a:moveTo>
                <a:lnTo>
                  <a:pt x="5907806" y="0"/>
                </a:lnTo>
                <a:lnTo>
                  <a:pt x="5907806" y="2953903"/>
                </a:lnTo>
                <a:lnTo>
                  <a:pt x="0" y="295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432859" y="272129"/>
            <a:ext cx="935565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 Insights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E0A6BC-8EEF-4F94-8CE5-4307AA6C6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65" y="1467003"/>
            <a:ext cx="13842502" cy="86433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13334989" y="-723673"/>
            <a:ext cx="5907806" cy="2953903"/>
          </a:xfrm>
          <a:custGeom>
            <a:avLst/>
            <a:gdLst/>
            <a:ahLst/>
            <a:cxnLst/>
            <a:rect l="l" t="t" r="r" b="b"/>
            <a:pathLst>
              <a:path w="5907806" h="2953903">
                <a:moveTo>
                  <a:pt x="0" y="0"/>
                </a:moveTo>
                <a:lnTo>
                  <a:pt x="5907806" y="0"/>
                </a:lnTo>
                <a:lnTo>
                  <a:pt x="5907806" y="2953903"/>
                </a:lnTo>
                <a:lnTo>
                  <a:pt x="0" y="295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432859" y="272129"/>
            <a:ext cx="935565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 Insights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C4FD52-3ADB-4943-8321-CDEBD281B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313" y="1478254"/>
            <a:ext cx="13852875" cy="87075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7761" y="-133501"/>
            <a:ext cx="18917648" cy="1063743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12939384" y="-491263"/>
            <a:ext cx="5907806" cy="2953903"/>
          </a:xfrm>
          <a:custGeom>
            <a:avLst/>
            <a:gdLst/>
            <a:ahLst/>
            <a:cxnLst/>
            <a:rect l="l" t="t" r="r" b="b"/>
            <a:pathLst>
              <a:path w="5907806" h="2953903">
                <a:moveTo>
                  <a:pt x="0" y="0"/>
                </a:moveTo>
                <a:lnTo>
                  <a:pt x="5907806" y="0"/>
                </a:lnTo>
                <a:lnTo>
                  <a:pt x="5907806" y="2953903"/>
                </a:lnTo>
                <a:lnTo>
                  <a:pt x="0" y="295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413301" y="252178"/>
            <a:ext cx="935565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 Insights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019300"/>
            <a:ext cx="12532360" cy="7799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14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76720" y="-4651441"/>
            <a:ext cx="8827001" cy="88270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12939384" y="-491263"/>
            <a:ext cx="5907806" cy="2953903"/>
          </a:xfrm>
          <a:custGeom>
            <a:avLst/>
            <a:gdLst/>
            <a:ahLst/>
            <a:cxnLst/>
            <a:rect l="l" t="t" r="r" b="b"/>
            <a:pathLst>
              <a:path w="5907806" h="2953903">
                <a:moveTo>
                  <a:pt x="0" y="0"/>
                </a:moveTo>
                <a:lnTo>
                  <a:pt x="5907806" y="0"/>
                </a:lnTo>
                <a:lnTo>
                  <a:pt x="5907806" y="2953903"/>
                </a:lnTo>
                <a:lnTo>
                  <a:pt x="0" y="295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98334" y="5201786"/>
            <a:ext cx="444168" cy="3951682"/>
            <a:chOff x="0" y="0"/>
            <a:chExt cx="116983" cy="1040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83" cy="1040772"/>
            </a:xfrm>
            <a:custGeom>
              <a:avLst/>
              <a:gdLst/>
              <a:ahLst/>
              <a:cxnLst/>
              <a:rect l="l" t="t" r="r" b="b"/>
              <a:pathLst>
                <a:path w="116983" h="1040772">
                  <a:moveTo>
                    <a:pt x="0" y="0"/>
                  </a:moveTo>
                  <a:lnTo>
                    <a:pt x="116983" y="0"/>
                  </a:lnTo>
                  <a:lnTo>
                    <a:pt x="116983" y="1040772"/>
                  </a:lnTo>
                  <a:lnTo>
                    <a:pt x="0" y="1040772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6983" cy="10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327865" y="433238"/>
            <a:ext cx="935565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 Insights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03" y="2210877"/>
            <a:ext cx="9307830" cy="6889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24367F-82A8-4867-B593-97F3260A4BE2}"/>
              </a:ext>
            </a:extLst>
          </p:cNvPr>
          <p:cNvSpPr txBox="1"/>
          <p:nvPr/>
        </p:nvSpPr>
        <p:spPr>
          <a:xfrm>
            <a:off x="10610501" y="2160709"/>
            <a:ext cx="6304033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 darker the color, the </a:t>
            </a:r>
            <a:r>
              <a:rPr lang="en-US" sz="2400" b="1" dirty="0">
                <a:solidFill>
                  <a:schemeClr val="tx2"/>
                </a:solidFill>
              </a:rPr>
              <a:t>weaker</a:t>
            </a:r>
            <a:r>
              <a:rPr lang="en-US" sz="2400" dirty="0">
                <a:solidFill>
                  <a:schemeClr val="tx2"/>
                </a:solidFill>
              </a:rPr>
              <a:t> the relationship. The lighter the color, the </a:t>
            </a:r>
            <a:r>
              <a:rPr lang="en-US" sz="2400" b="1" dirty="0">
                <a:solidFill>
                  <a:schemeClr val="tx2"/>
                </a:solidFill>
              </a:rPr>
              <a:t>stronger</a:t>
            </a:r>
            <a:r>
              <a:rPr lang="en-US" sz="2400" dirty="0">
                <a:solidFill>
                  <a:schemeClr val="tx2"/>
                </a:solidFill>
              </a:rPr>
              <a:t> the relationship.</a:t>
            </a:r>
          </a:p>
          <a:p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FOB Value and CIF Value</a:t>
            </a:r>
            <a:r>
              <a:rPr lang="en-US" sz="2400" dirty="0">
                <a:solidFill>
                  <a:schemeClr val="tx2"/>
                </a:solidFill>
              </a:rPr>
              <a:t> are almost perfectly related (0.99). This makes sense because both represent the value of goods, just under different shipping terms.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Total Tax</a:t>
            </a:r>
            <a:r>
              <a:rPr lang="en-US" sz="2400" dirty="0">
                <a:solidFill>
                  <a:schemeClr val="tx2"/>
                </a:solidFill>
              </a:rPr>
              <a:t> has a strong relationship with both </a:t>
            </a:r>
            <a:r>
              <a:rPr lang="en-US" sz="2400" b="1" dirty="0">
                <a:solidFill>
                  <a:schemeClr val="tx2"/>
                </a:solidFill>
              </a:rPr>
              <a:t>FOB Value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CIF Value</a:t>
            </a:r>
            <a:r>
              <a:rPr lang="en-US" sz="2400" dirty="0">
                <a:solidFill>
                  <a:schemeClr val="tx2"/>
                </a:solidFill>
              </a:rPr>
              <a:t> — which means as the value of goods goes up, the tax paid also increases.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Mass (KG)</a:t>
            </a:r>
            <a:r>
              <a:rPr lang="en-US" sz="2400" dirty="0">
                <a:solidFill>
                  <a:schemeClr val="tx2"/>
                </a:solidFill>
              </a:rPr>
              <a:t> is also somewhat related to the value and tax — heavier shipments tend to cost more and attract more tax.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Number of Containers</a:t>
            </a:r>
            <a:r>
              <a:rPr lang="en-US" sz="2400" dirty="0">
                <a:solidFill>
                  <a:schemeClr val="tx2"/>
                </a:solidFill>
              </a:rPr>
              <a:t> has a </a:t>
            </a:r>
            <a:r>
              <a:rPr lang="en-US" sz="2400" b="1" dirty="0">
                <a:solidFill>
                  <a:schemeClr val="tx2"/>
                </a:solidFill>
              </a:rPr>
              <a:t>weaker relationship</a:t>
            </a:r>
            <a:r>
              <a:rPr lang="en-US" sz="2400" dirty="0">
                <a:solidFill>
                  <a:schemeClr val="tx2"/>
                </a:solidFill>
              </a:rPr>
              <a:t> with the other variables — which suggests the number of containers doesn’t always increase just because the value or weight of goods increases.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rot="10644895">
            <a:off x="14892894" y="-1668727"/>
            <a:ext cx="4485190" cy="5668487"/>
          </a:xfrm>
          <a:custGeom>
            <a:avLst/>
            <a:gdLst/>
            <a:ahLst/>
            <a:cxnLst/>
            <a:rect l="l" t="t" r="r" b="b"/>
            <a:pathLst>
              <a:path w="4485190" h="5668487">
                <a:moveTo>
                  <a:pt x="0" y="0"/>
                </a:moveTo>
                <a:lnTo>
                  <a:pt x="4485190" y="0"/>
                </a:lnTo>
                <a:lnTo>
                  <a:pt x="4485190" y="5668486"/>
                </a:lnTo>
                <a:lnTo>
                  <a:pt x="0" y="56684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98334" y="2973413"/>
            <a:ext cx="444168" cy="1993568"/>
            <a:chOff x="0" y="0"/>
            <a:chExt cx="116983" cy="525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983" cy="525055"/>
            </a:xfrm>
            <a:custGeom>
              <a:avLst/>
              <a:gdLst/>
              <a:ahLst/>
              <a:cxnLst/>
              <a:rect l="l" t="t" r="r" b="b"/>
              <a:pathLst>
                <a:path w="116983" h="525055">
                  <a:moveTo>
                    <a:pt x="0" y="0"/>
                  </a:moveTo>
                  <a:lnTo>
                    <a:pt x="116983" y="0"/>
                  </a:lnTo>
                  <a:lnTo>
                    <a:pt x="116983" y="525055"/>
                  </a:lnTo>
                  <a:lnTo>
                    <a:pt x="0" y="525055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16983" cy="57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352800" y="138499"/>
            <a:ext cx="940477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 dirty="0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Recommendation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472242" y="1818990"/>
            <a:ext cx="16981569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996633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Optimize Tax Collection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996633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Implement stricter tax enforcement measures in high-volume customs offices (e.g., NT, </a:t>
            </a:r>
            <a:r>
              <a:rPr lang="en-US" alt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MP Office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Introduce automated tax calculations and monitoring tools to ensure accuracy and compliance.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996633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Improve Supply Chain Efficiency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996633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Streamline container usage by optimizing shipment consolidation, reducing costs, and improving logistics efficiency.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Implement predictive analytics to forecast shipment volumes and container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996633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Mitigate Risks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996633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Develop a risk-based compliance framework to closely monitor imports from high-risk countries (e.g., China and India).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Enhance import screening processes to identify and flag suspicious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996633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Support Strategic Trade Relations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996633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Diversify import sources by incentivizing trade with underutilized countries.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Establish long-term partnerships to reduce dependency on a few countries.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996633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Enhance Compliance Measures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996633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Automate tax payments, documentation handling, and customs processes in high-volume offices.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Introduce real-time compliance monitoring and alerts for delayed payments.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90" y="74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77764" y="5633511"/>
            <a:ext cx="690397" cy="2412632"/>
            <a:chOff x="0" y="0"/>
            <a:chExt cx="181833" cy="635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833" cy="635426"/>
            </a:xfrm>
            <a:custGeom>
              <a:avLst/>
              <a:gdLst/>
              <a:ahLst/>
              <a:cxnLst/>
              <a:rect l="l" t="t" r="r" b="b"/>
              <a:pathLst>
                <a:path w="181833" h="635426">
                  <a:moveTo>
                    <a:pt x="0" y="0"/>
                  </a:moveTo>
                  <a:lnTo>
                    <a:pt x="181833" y="0"/>
                  </a:lnTo>
                  <a:lnTo>
                    <a:pt x="181833" y="635426"/>
                  </a:lnTo>
                  <a:lnTo>
                    <a:pt x="0" y="63542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1833" cy="683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13868744" y="-1149208"/>
            <a:ext cx="3573594" cy="5594668"/>
          </a:xfrm>
          <a:custGeom>
            <a:avLst/>
            <a:gdLst/>
            <a:ahLst/>
            <a:cxnLst/>
            <a:rect l="l" t="t" r="r" b="b"/>
            <a:pathLst>
              <a:path w="3573594" h="5594668">
                <a:moveTo>
                  <a:pt x="0" y="5594668"/>
                </a:moveTo>
                <a:lnTo>
                  <a:pt x="3573594" y="5594668"/>
                </a:lnTo>
                <a:lnTo>
                  <a:pt x="3573594" y="0"/>
                </a:lnTo>
                <a:lnTo>
                  <a:pt x="0" y="0"/>
                </a:lnTo>
                <a:lnTo>
                  <a:pt x="0" y="559466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 flipV="1">
            <a:off x="15193010" y="-2037707"/>
            <a:ext cx="3054089" cy="4781353"/>
          </a:xfrm>
          <a:custGeom>
            <a:avLst/>
            <a:gdLst/>
            <a:ahLst/>
            <a:cxnLst/>
            <a:rect l="l" t="t" r="r" b="b"/>
            <a:pathLst>
              <a:path w="3054089" h="4781353">
                <a:moveTo>
                  <a:pt x="0" y="4781352"/>
                </a:moveTo>
                <a:lnTo>
                  <a:pt x="3054089" y="4781352"/>
                </a:lnTo>
                <a:lnTo>
                  <a:pt x="3054089" y="0"/>
                </a:lnTo>
                <a:lnTo>
                  <a:pt x="0" y="0"/>
                </a:lnTo>
                <a:lnTo>
                  <a:pt x="0" y="47813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845144" y="4778519"/>
            <a:ext cx="2400148" cy="860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775" b="1">
                <a:solidFill>
                  <a:srgbClr val="FFFFFF"/>
                </a:solidFill>
                <a:latin typeface="Libra Sans Bold" panose="020B0704020202020204"/>
                <a:ea typeface="Libra Sans Bold" panose="020B0704020202020204"/>
                <a:cs typeface="Libra Sans Bold" panose="020B0704020202020204"/>
                <a:sym typeface="Libra Sans Bold" panose="020B0704020202020204"/>
              </a:rPr>
              <a:t>Hands-on workshops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45144" y="6616807"/>
            <a:ext cx="2383770" cy="446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775" b="1">
                <a:solidFill>
                  <a:srgbClr val="FFFFFF"/>
                </a:solidFill>
                <a:latin typeface="Libra Sans Bold" panose="020B0704020202020204"/>
                <a:ea typeface="Libra Sans Bold" panose="020B0704020202020204"/>
                <a:cs typeface="Libra Sans Bold" panose="020B0704020202020204"/>
                <a:sym typeface="Libra Sans Bold" panose="020B0704020202020204"/>
              </a:rPr>
              <a:t>Case Studies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45144" y="8312936"/>
            <a:ext cx="2523272" cy="446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775" b="1">
                <a:solidFill>
                  <a:srgbClr val="FFFFFF"/>
                </a:solidFill>
                <a:latin typeface="Libra Sans Bold" panose="020B0704020202020204"/>
                <a:ea typeface="Libra Sans Bold" panose="020B0704020202020204"/>
                <a:cs typeface="Libra Sans Bold" panose="020B0704020202020204"/>
                <a:sym typeface="Libra Sans Bold" panose="020B0704020202020204"/>
              </a:rPr>
              <a:t>Simulations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5259" y="1685021"/>
            <a:ext cx="1132580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Implementation Plan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3134" y="2789921"/>
            <a:ext cx="13120334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996633"/>
                </a:solidFill>
              </a:rPr>
              <a:t>Phase 1 (0-6 Months) - Short-Term Initiatives</a:t>
            </a:r>
            <a:endParaRPr lang="en-US" sz="2800" dirty="0">
              <a:solidFill>
                <a:srgbClr val="9966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Automate tax calculations, documentation handling, and compliance measures.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 real-time monitoring tools for tax payments and customs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Conduct risk assessments for high-risk countries and initiate compliance audits.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b="1" dirty="0">
                <a:solidFill>
                  <a:srgbClr val="996633"/>
                </a:solidFill>
              </a:rPr>
              <a:t>Phase 2 (6-12 Months) - Medium-Term Initiatives</a:t>
            </a:r>
            <a:endParaRPr lang="en-US" sz="2800" dirty="0">
              <a:solidFill>
                <a:srgbClr val="9966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 a centralized trade monitoring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Roll out automated tax tools and compliance frameworks across all customs offices.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b="1" dirty="0">
                <a:solidFill>
                  <a:srgbClr val="996633"/>
                </a:solidFill>
              </a:rPr>
              <a:t>Phase 3 (12-18 Months) - Long-Term Initiatives</a:t>
            </a:r>
            <a:endParaRPr lang="en-US" sz="2800" dirty="0">
              <a:solidFill>
                <a:srgbClr val="9966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Establish strategic trade partnerships and incentives for trade diversification.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Integrate AI tools for predictive analytics and risk assessment.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Monitor and evaluate the impact of implemented measures and refine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48943" y="-1543159"/>
            <a:ext cx="3101217" cy="31012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8809067" y="-2786876"/>
            <a:ext cx="4449122" cy="4087631"/>
          </a:xfrm>
          <a:custGeom>
            <a:avLst/>
            <a:gdLst/>
            <a:ahLst/>
            <a:cxnLst/>
            <a:rect l="l" t="t" r="r" b="b"/>
            <a:pathLst>
              <a:path w="4449122" h="4087631">
                <a:moveTo>
                  <a:pt x="0" y="0"/>
                </a:moveTo>
                <a:lnTo>
                  <a:pt x="4449122" y="0"/>
                </a:lnTo>
                <a:lnTo>
                  <a:pt x="4449122" y="4087631"/>
                </a:lnTo>
                <a:lnTo>
                  <a:pt x="0" y="408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3222755" y="-139155"/>
            <a:ext cx="5222231" cy="4797924"/>
          </a:xfrm>
          <a:custGeom>
            <a:avLst/>
            <a:gdLst/>
            <a:ahLst/>
            <a:cxnLst/>
            <a:rect l="l" t="t" r="r" b="b"/>
            <a:pathLst>
              <a:path w="5222231" h="4797924">
                <a:moveTo>
                  <a:pt x="0" y="0"/>
                </a:moveTo>
                <a:lnTo>
                  <a:pt x="5222231" y="0"/>
                </a:lnTo>
                <a:lnTo>
                  <a:pt x="5222231" y="4797924"/>
                </a:lnTo>
                <a:lnTo>
                  <a:pt x="0" y="47979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429452" y="1241554"/>
            <a:ext cx="746540" cy="572037"/>
          </a:xfrm>
          <a:custGeom>
            <a:avLst/>
            <a:gdLst/>
            <a:ahLst/>
            <a:cxnLst/>
            <a:rect l="l" t="t" r="r" b="b"/>
            <a:pathLst>
              <a:path w="746540" h="572037">
                <a:moveTo>
                  <a:pt x="0" y="0"/>
                </a:moveTo>
                <a:lnTo>
                  <a:pt x="746541" y="0"/>
                </a:lnTo>
                <a:lnTo>
                  <a:pt x="746541" y="572037"/>
                </a:lnTo>
                <a:lnTo>
                  <a:pt x="0" y="5720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74232" y="2090385"/>
            <a:ext cx="669673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 b="1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4232" y="3948477"/>
            <a:ext cx="12241768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3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The analysis successfully identified critical insights for optimizing trade and customs operations. Implementing the recommended measures can enhance decision-making, ensure compliance, and improve overall efficiency. Future analysis can focus on real-time monitoring and predictive analytics for enhanced operational efficiency.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rot="-2700000">
            <a:off x="14258616" y="909762"/>
            <a:ext cx="7256231" cy="7256231"/>
          </a:xfrm>
          <a:custGeom>
            <a:avLst/>
            <a:gdLst/>
            <a:ahLst/>
            <a:cxnLst/>
            <a:rect l="l" t="t" r="r" b="b"/>
            <a:pathLst>
              <a:path w="7256231" h="7256231">
                <a:moveTo>
                  <a:pt x="0" y="0"/>
                </a:moveTo>
                <a:lnTo>
                  <a:pt x="7256231" y="0"/>
                </a:lnTo>
                <a:lnTo>
                  <a:pt x="7256231" y="7256231"/>
                </a:lnTo>
                <a:lnTo>
                  <a:pt x="0" y="725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700000">
            <a:off x="9675855" y="-3819351"/>
            <a:ext cx="7256231" cy="7256231"/>
          </a:xfrm>
          <a:custGeom>
            <a:avLst/>
            <a:gdLst/>
            <a:ahLst/>
            <a:cxnLst/>
            <a:rect l="l" t="t" r="r" b="b"/>
            <a:pathLst>
              <a:path w="7256231" h="7256231">
                <a:moveTo>
                  <a:pt x="0" y="0"/>
                </a:moveTo>
                <a:lnTo>
                  <a:pt x="7256231" y="0"/>
                </a:lnTo>
                <a:lnTo>
                  <a:pt x="7256231" y="7256231"/>
                </a:lnTo>
                <a:lnTo>
                  <a:pt x="0" y="725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>
            <a:off x="11686093" y="7084255"/>
            <a:ext cx="7256231" cy="7256231"/>
          </a:xfrm>
          <a:custGeom>
            <a:avLst/>
            <a:gdLst/>
            <a:ahLst/>
            <a:cxnLst/>
            <a:rect l="l" t="t" r="r" b="b"/>
            <a:pathLst>
              <a:path w="7256231" h="7256231">
                <a:moveTo>
                  <a:pt x="0" y="0"/>
                </a:moveTo>
                <a:lnTo>
                  <a:pt x="7256231" y="0"/>
                </a:lnTo>
                <a:lnTo>
                  <a:pt x="7256231" y="7256231"/>
                </a:lnTo>
                <a:lnTo>
                  <a:pt x="0" y="725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10560170" y="4178397"/>
            <a:ext cx="4139247" cy="4139247"/>
          </a:xfrm>
          <a:custGeom>
            <a:avLst/>
            <a:gdLst/>
            <a:ahLst/>
            <a:cxnLst/>
            <a:rect l="l" t="t" r="r" b="b"/>
            <a:pathLst>
              <a:path w="4139247" h="4139247">
                <a:moveTo>
                  <a:pt x="0" y="0"/>
                </a:moveTo>
                <a:lnTo>
                  <a:pt x="4139247" y="0"/>
                </a:lnTo>
                <a:lnTo>
                  <a:pt x="4139247" y="4139247"/>
                </a:lnTo>
                <a:lnTo>
                  <a:pt x="0" y="4139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06489" y="-4838965"/>
            <a:ext cx="8827001" cy="882700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61840" y="6526642"/>
            <a:ext cx="8827001" cy="882700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2420448" y="5955696"/>
            <a:ext cx="8799304" cy="7039443"/>
          </a:xfrm>
          <a:custGeom>
            <a:avLst/>
            <a:gdLst/>
            <a:ahLst/>
            <a:cxnLst/>
            <a:rect l="l" t="t" r="r" b="b"/>
            <a:pathLst>
              <a:path w="8799304" h="7039443">
                <a:moveTo>
                  <a:pt x="8799304" y="0"/>
                </a:moveTo>
                <a:lnTo>
                  <a:pt x="0" y="0"/>
                </a:lnTo>
                <a:lnTo>
                  <a:pt x="0" y="7039443"/>
                </a:lnTo>
                <a:lnTo>
                  <a:pt x="8799304" y="7039443"/>
                </a:lnTo>
                <a:lnTo>
                  <a:pt x="87993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736312">
            <a:off x="11781924" y="-377432"/>
            <a:ext cx="8799304" cy="7039443"/>
          </a:xfrm>
          <a:custGeom>
            <a:avLst/>
            <a:gdLst/>
            <a:ahLst/>
            <a:cxnLst/>
            <a:rect l="l" t="t" r="r" b="b"/>
            <a:pathLst>
              <a:path w="8799304" h="7039443">
                <a:moveTo>
                  <a:pt x="0" y="0"/>
                </a:moveTo>
                <a:lnTo>
                  <a:pt x="8799304" y="0"/>
                </a:lnTo>
                <a:lnTo>
                  <a:pt x="8799304" y="7039443"/>
                </a:lnTo>
                <a:lnTo>
                  <a:pt x="0" y="7039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317215" y="3797149"/>
            <a:ext cx="4901744" cy="490174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7"/>
              <a:stretch>
                <a:fillRect l="-24906" r="-2490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831755" y="-1445918"/>
            <a:ext cx="11494793" cy="1149479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8"/>
              <a:stretch>
                <a:fillRect l="-30816" r="-19136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-333821" y="3946612"/>
            <a:ext cx="479655" cy="2651693"/>
            <a:chOff x="0" y="0"/>
            <a:chExt cx="126329" cy="6983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329" cy="698388"/>
            </a:xfrm>
            <a:custGeom>
              <a:avLst/>
              <a:gdLst/>
              <a:ahLst/>
              <a:cxnLst/>
              <a:rect l="l" t="t" r="r" b="b"/>
              <a:pathLst>
                <a:path w="126329" h="698388">
                  <a:moveTo>
                    <a:pt x="0" y="0"/>
                  </a:moveTo>
                  <a:lnTo>
                    <a:pt x="126329" y="0"/>
                  </a:lnTo>
                  <a:lnTo>
                    <a:pt x="126329" y="698388"/>
                  </a:lnTo>
                  <a:lnTo>
                    <a:pt x="0" y="698388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26329" cy="746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7434" y="8225763"/>
            <a:ext cx="163722" cy="1032537"/>
            <a:chOff x="0" y="0"/>
            <a:chExt cx="43120" cy="2719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120" cy="271944"/>
            </a:xfrm>
            <a:custGeom>
              <a:avLst/>
              <a:gdLst/>
              <a:ahLst/>
              <a:cxnLst/>
              <a:rect l="l" t="t" r="r" b="b"/>
              <a:pathLst>
                <a:path w="43120" h="271944">
                  <a:moveTo>
                    <a:pt x="0" y="0"/>
                  </a:moveTo>
                  <a:lnTo>
                    <a:pt x="43120" y="0"/>
                  </a:lnTo>
                  <a:lnTo>
                    <a:pt x="43120" y="271944"/>
                  </a:lnTo>
                  <a:lnTo>
                    <a:pt x="0" y="271944"/>
                  </a:lnTo>
                  <a:close/>
                </a:path>
              </a:pathLst>
            </a:custGeom>
            <a:solidFill>
              <a:srgbClr val="0665B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3120" cy="319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19188" y="1147510"/>
            <a:ext cx="1207934" cy="1114682"/>
          </a:xfrm>
          <a:custGeom>
            <a:avLst/>
            <a:gdLst/>
            <a:ahLst/>
            <a:cxnLst/>
            <a:rect l="l" t="t" r="r" b="b"/>
            <a:pathLst>
              <a:path w="1207934" h="1114682">
                <a:moveTo>
                  <a:pt x="0" y="0"/>
                </a:moveTo>
                <a:lnTo>
                  <a:pt x="1207933" y="0"/>
                </a:lnTo>
                <a:lnTo>
                  <a:pt x="1207933" y="1114682"/>
                </a:lnTo>
                <a:lnTo>
                  <a:pt x="0" y="1114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6865" t="-163093" r="-187297" b="-250736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89295" y="3762383"/>
            <a:ext cx="8750522" cy="1537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5"/>
              </a:lnSpc>
            </a:pPr>
            <a:r>
              <a:rPr lang="en-US" sz="11205" b="1">
                <a:solidFill>
                  <a:srgbClr val="B06E10"/>
                </a:solidFill>
                <a:latin typeface="Gordita Bold"/>
                <a:ea typeface="Gordita Bold"/>
                <a:cs typeface="Gordita Bold"/>
                <a:sym typeface="Gordita Bold"/>
              </a:rPr>
              <a:t>Thank You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3277" y="7286940"/>
            <a:ext cx="644549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Internship Presentation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1008" y="8666615"/>
            <a:ext cx="298043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665BE"/>
                </a:solidFill>
                <a:latin typeface="Gordita"/>
                <a:ea typeface="Gordita"/>
                <a:cs typeface="Gordita"/>
                <a:sym typeface="Gordita"/>
              </a:rPr>
              <a:t>Presented By: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49932" y="8666615"/>
            <a:ext cx="5853781" cy="837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B06E10"/>
                </a:solidFill>
                <a:latin typeface="Gordita Bold"/>
                <a:ea typeface="Gordita Bold"/>
                <a:cs typeface="Gordita Bold"/>
                <a:sym typeface="Gordita Bold"/>
              </a:rPr>
              <a:t>OYINDAMOLA SARAH BABATUNDE</a:t>
            </a:r>
            <a:br>
              <a:rPr lang="en-US" sz="2400" b="1" dirty="0">
                <a:solidFill>
                  <a:srgbClr val="B06E10"/>
                </a:solidFill>
                <a:latin typeface="Gordita Bold"/>
                <a:ea typeface="Gordita Bold"/>
                <a:cs typeface="Gordita Bold"/>
                <a:sym typeface="Gordita Bold"/>
              </a:rPr>
            </a:br>
            <a:r>
              <a:rPr lang="en-US" sz="2400" b="1" dirty="0">
                <a:solidFill>
                  <a:srgbClr val="B06E10"/>
                </a:solidFill>
                <a:latin typeface="Gordita Bold"/>
                <a:ea typeface="Gordita Bold"/>
                <a:cs typeface="Gordita Bold"/>
                <a:sym typeface="Gordita Bold"/>
              </a:rPr>
              <a:t>JOEL BABATUNDE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27121" y="1352155"/>
            <a:ext cx="177250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DataVerse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665BE"/>
                </a:solidFill>
                <a:latin typeface="Gordita Bold"/>
                <a:ea typeface="Gordita Bold"/>
                <a:cs typeface="Gordita Bold"/>
                <a:sym typeface="Gordita Bold"/>
              </a:rPr>
              <a:t>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717</Words>
  <Application>Microsoft Office PowerPoint</Application>
  <PresentationFormat>Custom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Gordita</vt:lpstr>
      <vt:lpstr>Arial</vt:lpstr>
      <vt:lpstr>Calibri</vt:lpstr>
      <vt:lpstr>Symbol</vt:lpstr>
      <vt:lpstr>Gordita Bold</vt:lpstr>
      <vt:lpstr>Libra Sans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</dc:title>
  <dc:creator/>
  <cp:lastModifiedBy>USER</cp:lastModifiedBy>
  <cp:revision>23</cp:revision>
  <dcterms:created xsi:type="dcterms:W3CDTF">2006-08-16T00:00:00Z</dcterms:created>
  <dcterms:modified xsi:type="dcterms:W3CDTF">2025-04-06T22:45:48Z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86796E8C13F6490495552C513807FD24_12</vt:lpwstr>
  </property>
  <property fmtid="{D5CDD505-2E9C-101B-9397-08002B2CF9AE}" pid="3" name="KSOProductBuildVer">
    <vt:lpwstr>1033-12.2.0.20782</vt:lpwstr>
  </property>
</Properties>
</file>